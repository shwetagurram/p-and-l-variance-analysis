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27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State the business question: 'Where and why did actual spend deviate from budget over 3 years?'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context. This slide answers 'why does this project matter?' before showing any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column briefly. Emphasise the 7 custom columns you added — this shows you transformed the data, not just loaded it. Mention that Month_Num is critical for correct chart sorting in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headline number is ₹9.77M over budget (11.10%). Every year exceeded budget. But notice the 2022-2023 comparison — the gap is narrowing, which is a positive sign. Q3 dips consistently across all years — this is a seasonal pattern, not a one-off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Every single department overspent. Sales had the highest overrun at 14.90%. The fact that all 6 are unfavourable tells us this is not a departmental failure — it is a systematic under-budgeting problem that leadership needs to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matrix first — it tells the whole regional story at a glance. Central's IT department at +33.3% is the single biggest variance cell in the dataset. West is the only region that came close to budget — use it as an internal benchmark for best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most important slide. Say: The data shows this is not a random variance — it is systemic. Every department overspent, which tells us the budgets were set too low. My recommendation is a 10-12% upward revision combined with quarterly review cycles to catch issues early rather than discovering them at year-end.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76069" y="-1124360"/>
            <a:ext cx="4114800" cy="4114800"/>
          </a:xfrm>
          <a:prstGeom prst="ellipse">
            <a:avLst/>
          </a:prstGeom>
          <a:solidFill>
            <a:srgbClr val="112F55">
              <a:alpha val="70000"/>
            </a:srgbClr>
          </a:solidFill>
          <a:ln w="12700">
            <a:solidFill>
              <a:srgbClr val="112F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112F55">
              <a:alpha val="50000"/>
            </a:srgbClr>
          </a:solidFill>
          <a:ln w="12700">
            <a:solidFill>
              <a:srgbClr val="112F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689229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Variance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12064" y="146761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466557" cy="274320"/>
          </a:xfrm>
          <a:prstGeom prst="roundRect">
            <a:avLst>
              <a:gd name="adj" fmla="val 20000"/>
            </a:avLst>
          </a:prstGeom>
          <a:solidFill>
            <a:srgbClr val="1A4A7A"/>
          </a:solidFill>
          <a:ln w="6350">
            <a:solidFill>
              <a:srgbClr val="4EB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14665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2021 – 2023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60917" y="2521458"/>
            <a:ext cx="1466557" cy="274320"/>
          </a:xfrm>
          <a:prstGeom prst="roundRect">
            <a:avLst>
              <a:gd name="adj" fmla="val 20000"/>
            </a:avLst>
          </a:prstGeom>
          <a:solidFill>
            <a:srgbClr val="1A4A7A"/>
          </a:solidFill>
          <a:ln w="6350">
            <a:solidFill>
              <a:srgbClr val="4EB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0918" y="2514600"/>
            <a:ext cx="14665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Departments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40015" y="2517062"/>
            <a:ext cx="1466557" cy="274320"/>
          </a:xfrm>
          <a:prstGeom prst="roundRect">
            <a:avLst>
              <a:gd name="adj" fmla="val 20000"/>
            </a:avLst>
          </a:prstGeom>
          <a:solidFill>
            <a:srgbClr val="1A4A7A"/>
          </a:solidFill>
          <a:ln w="6350">
            <a:solidFill>
              <a:srgbClr val="4EB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8914" y="2521458"/>
            <a:ext cx="14665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Regions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222631" y="2491740"/>
            <a:ext cx="1466557" cy="274320"/>
          </a:xfrm>
          <a:prstGeom prst="roundRect">
            <a:avLst>
              <a:gd name="adj" fmla="val 20000"/>
            </a:avLst>
          </a:prstGeom>
          <a:solidFill>
            <a:srgbClr val="1A4A7A"/>
          </a:solidFill>
          <a:ln w="6350">
            <a:solidFill>
              <a:srgbClr val="4EB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3732" y="2488575"/>
            <a:ext cx="144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· Power BI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01728" y="2498422"/>
            <a:ext cx="1466557" cy="274320"/>
          </a:xfrm>
          <a:prstGeom prst="roundRect">
            <a:avLst>
              <a:gd name="adj" fmla="val 20000"/>
            </a:avLst>
          </a:prstGeom>
          <a:solidFill>
            <a:srgbClr val="1A4A7A"/>
          </a:solidFill>
          <a:ln w="6350">
            <a:solidFill>
              <a:srgbClr val="4EB3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6817909" y="2498422"/>
            <a:ext cx="14394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Dataset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29260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3-year budget vs actuals analysis across departments, categories and regions — identifying variance drivers, overrun patterns, and spend trends.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069080"/>
            <a:ext cx="9144000" cy="13716"/>
          </a:xfrm>
          <a:prstGeom prst="rect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60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4A7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ACTUAL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4370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₹97.73M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06040" y="4160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4A7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06040" y="4370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₹87.96M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09160" y="4160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4A7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VARIANCE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9160" y="4370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+₹9.77M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12280" y="4160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4A7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12280" y="4370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+11.10%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7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 Shweta Gurram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business question am I answering?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 accumulated 3 years of budget and actual spend data across 6 departments, 6 categories and multiple regions.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leadership could not easily identify:</a:t>
            </a:r>
            <a:endParaRPr lang="en-US" sz="1200" dirty="0"/>
          </a:p>
          <a:p>
            <a:pPr marL="685800" lvl="1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departments are consistently overspending</a:t>
            </a:r>
            <a:endParaRPr lang="en-US" sz="1200" dirty="0"/>
          </a:p>
          <a:p>
            <a:pPr marL="685800" lvl="1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regions drive the most variance</a:t>
            </a:r>
            <a:endParaRPr lang="en-US" sz="1200" dirty="0"/>
          </a:p>
          <a:p>
            <a:pPr marL="685800" lvl="1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spend control is improving year over year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188720"/>
            <a:ext cx="3108960" cy="2651760"/>
          </a:xfrm>
          <a:prstGeom prst="roundRect">
            <a:avLst>
              <a:gd name="adj" fmla="val 4138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1737360"/>
            <a:ext cx="201168" cy="201168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7099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high-variance departments &amp;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286000"/>
            <a:ext cx="201168" cy="201168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2585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regional overrun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834640"/>
            <a:ext cx="201168" cy="201168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28072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YoY spend trend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3383280"/>
            <a:ext cx="201168" cy="201168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3558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actionable CFO-level recommendations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02258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6F1FB"/>
          </a:solidFill>
          <a:ln w="6350">
            <a:solidFill>
              <a:srgbClr val="4EB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200" i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goal was to answer: where is the company losing budget control — and what should leadership do about it? </a:t>
            </a:r>
            <a:r>
              <a:rPr lang="en-US" sz="2800" b="1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Tools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columns · FY 2021–2023  · Source: Kaggle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8 COLUMNS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63624"/>
            <a:ext cx="52120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600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identifier per row — Primary key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92808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29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929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date (YYYY-MM-DD)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221992"/>
            <a:ext cx="52120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departments: Sales, HR, IT, Finance, Ops, Mktg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551176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587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types: Salaries, Marketing, Infrastructure…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880360"/>
            <a:ext cx="52120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2916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Geographical region (North/South/East/West/Central)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09544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Budget_Amount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/ budgeted spend (₹)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538728"/>
            <a:ext cx="52120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75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Actual_Amount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3575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spend (₹)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867912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04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Payment_Method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904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Transfer, Credit Card, Cash, Cheque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1143000"/>
            <a:ext cx="2834640" cy="1920240"/>
          </a:xfrm>
          <a:prstGeom prst="roundRect">
            <a:avLst>
              <a:gd name="adj" fmla="val 4762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80760" y="1280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CUSTOM COLUMNS ADDED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0760" y="1572768"/>
            <a:ext cx="128016" cy="128016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15361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(Actual − Budget)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1773936"/>
            <a:ext cx="128016" cy="128016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1737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1975104"/>
            <a:ext cx="128016" cy="128016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(Favourable/Unfavourable)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2176272"/>
            <a:ext cx="128016" cy="128016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2139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80760" y="2377440"/>
            <a:ext cx="128016" cy="128016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2340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Month_Num (1–12)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2578608"/>
            <a:ext cx="128016" cy="128016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1072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80760" y="2779776"/>
            <a:ext cx="128016" cy="128016"/>
          </a:xfrm>
          <a:prstGeom prst="ellipse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(Q1–Q4)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30632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6576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65760" y="3657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· Cleaning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 · Insights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60320" y="30632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56032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560320" y="3657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· Shape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 · Columns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0" y="30632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5488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754880" y="3657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· DAX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Visuals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49440" y="30632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94944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949440" y="3657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source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· 3 years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 1 — Executive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· Budget vs Actual trend · Year-on-year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₹87.96M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Actual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₹97.73M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Amount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₹9.77M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+ 11.10%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Overspend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5420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years exceeded budget. 2021 had the largest absolute overrun (₹5.5M).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1488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Q3 Dip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25420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spend dip in Q3 every year — seasonal mid-year slowdown.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1488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Improving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5420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gap is narrowing: budget +7.63% but actual only +3.07% in 2022→2023.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72C963C-C8B6-896A-9707-0FB6641A5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37560"/>
            <a:ext cx="3750027" cy="15506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9899098-0278-5AB2-2FCC-E6E462CCD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782" y="3341956"/>
            <a:ext cx="4368017" cy="15462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 2 — Department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 departments reported unfavourable variance — a systemic budgeting issue</a:t>
            </a:r>
            <a:endParaRPr lang="en-US" sz="11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74FCD95-35BE-7124-A3A8-D8D0F82C1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83" y="1555478"/>
            <a:ext cx="7680960" cy="25411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 3 — Regional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and Central regions drive the largest overruns · West region best budget control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07899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vs Actual by Region (₹M)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044461" y="1166915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× Department Variance % Matrix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365760" y="356616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502920" y="3675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East: Highest Spend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502920" y="3977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₹21.6M actual vs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₹19.0M budget (+13.7%)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246120" y="356616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3383280" y="3675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IT: +33.3%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3383280" y="3977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single variance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entire dataset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6126480" y="356616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4" name="Text 71"/>
          <p:cNvSpPr/>
          <p:nvPr/>
        </p:nvSpPr>
        <p:spPr>
          <a:xfrm>
            <a:off x="6263640" y="3675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West: Best Control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6263640" y="3977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₹17.8M slightly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₹18.4M budget</a:t>
            </a:r>
            <a:endParaRPr lang="en-US" sz="110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8B08861F-6CB3-67E1-DEE3-B944D5D15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23" y="1335024"/>
            <a:ext cx="3360711" cy="20939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6AEF3A15-D93B-05C7-F93F-85AAA0CD5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683" y="1477811"/>
            <a:ext cx="5029200" cy="16536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B3E8"/>
          </a:solidFill>
          <a:ln w="12700">
            <a:solidFill>
              <a:srgbClr val="4EB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Variance Analysis — FY 2021–2023  |  Synthesised from SQL analysis and Power BI 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112F55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All 6 departments overspent — systemic under-budgeting, not isolated overruns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482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Sales led overruns at 14.90% (+₹2.11M) — highest of all departments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237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Central IT variance +33.27% — largest single cell in the entire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992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56.87% of all transactions exceeded their individual budgets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Q3 dip is consistent across all 3 years — clear seasonal spending pattern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502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2023 variance gap is narrowing vs 2021 — cost discipline is improving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E6F1FB"/>
          </a:solidFill>
          <a:ln w="6350">
            <a:solidFill>
              <a:srgbClr val="4EB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5727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72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15727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annual budgets upward by 10–12% to reflect actual spending reality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048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048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204825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Sales department travel and operational costs — biggest overrun driver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5237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523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5237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IT infrastructure contracts in Central region — +33% is unsustainable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999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99923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quarterly budget reviews to catch overruns mid-year, not year-end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4747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34747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West region as internal best-practice model for budget discipline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9502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39502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Q4 spend controls to prevent year-end budget-burn pattern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A4A7A"/>
          </a:solidFill>
          <a:ln w="6350">
            <a:solidFill>
              <a:srgbClr val="4EB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E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993</Words>
  <Application>Microsoft Office PowerPoint</Application>
  <PresentationFormat>On-screen Show (16:9)</PresentationFormat>
  <Paragraphs>139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P&amp;L Variance Analysis Dashboard</dc:title>
  <dc:subject>PptxGenJS Presentation</dc:subject>
  <dc:creator>Your Name</dc:creator>
  <cp:lastModifiedBy>Shweta Gurram</cp:lastModifiedBy>
  <cp:revision>4</cp:revision>
  <dcterms:created xsi:type="dcterms:W3CDTF">2026-06-16T05:46:26Z</dcterms:created>
  <dcterms:modified xsi:type="dcterms:W3CDTF">2026-06-22T17:51:22Z</dcterms:modified>
</cp:coreProperties>
</file>